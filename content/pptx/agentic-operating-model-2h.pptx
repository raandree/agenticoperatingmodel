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Lst>
  <p:notesMasterIdLst>
    <p:notesMasterId r:id="rId7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notesMaster" Target="notesMasters/notesMaster1.xml"/><Relationship Id="rId79" Type="http://schemas.openxmlformats.org/officeDocument/2006/relationships/presProps" Target="presProps.xml"/><Relationship Id="rId80" Type="http://schemas.openxmlformats.org/officeDocument/2006/relationships/viewProps" Target="viewProps.xml"/><Relationship Id="rId81" Type="http://schemas.openxmlformats.org/officeDocument/2006/relationships/theme" Target="theme/theme1.xml"/><Relationship Id="rId8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answers correspond to four distinct mental models of what AI "is":
- **A) Autocomplete** — AI as a faster keyboard. Productivity gain is real but bounded; the human is still author and integrator.
- **B) Chat assistant** — AI as a knowledgeable colleague you consult. Better for explanation and one-off snippets; copy-paste is the bottleneck.
- **C) Agent** — AI as a workflow participant that reads the repository, edits files, runs commands, and reads the results. Different category of tool, not just a better B.
- **D) Not yet** — includes regulated industries, classified environments, and teams that explicitly chose to wait. Often the most prepared audience for an operating-model conversation, because they haven't yet accumulated bad habits.
In 2026 audiences, A and B together typically account for the large majority. The jump from B to C is the substantive topic of this training; A→B and B→C are very different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**LLM** = Large Language Model. The "brain" behind the assistant (Claude, GPT, Gemini).
- **Context window** = how much text (your code + chat + docs) the model can read at once.
- **Tool use** = the model can call functions like "read file", "run command", not just generate text.
- **MCP** = a USB-like standard that lets any AI tool talk to any data source. Covered in Module 8.
- The point of this slide: the *capability* existed for a while, but only NOW are price, context size, and tooling good enough for autonomous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quoted productivity numbers come from the 2024–25 wave of empirical studies:
- The 55% figure is GitHub's Copilot RCT (Peng et al., 2023) on a controlled boilerplate task; later real-world studies put the median closer to 20–30%.
- The 40% debugging-time figure is from Microsoft Research's 2024 internal study, narrower in scope than the GitHub number suggests.
- The Windsurf 94% claim refers to *lines authored*, not *value delivered*; the metric is genuine but selection-biased toward greenfield work.
The enterprise-adoption list (NVIDIA ≈40k engineers, Salesforce ≈20k developers, much of the Fortune 500) is meaningful because it answers the "is this just hype?" question at the procurement level — these are organisations with formal security reviews, not enthusiasts.
The three caveats at the bottom are not throat-clearing. They define the rest of the curriculum: *new skills* (prompting, verification) is Modules 3–5, *task fit* is Module 6, and *oversight* is Modules 7–9. Productivity gains compound when those three are in place and silently regress when they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METR measures agent autonomy as the length of task (in human time) an agent completes at 50% reliability; it has doubled roughly every 7 months for six years. This reframes "why now" into "why this keeps growing." Pair it with the conductor message: as the horizon lengthens, the human moves from fixing AI mistakes to directing AI work. Always present the horizon together with its caveat — quoting the trend without it invites the "this is just AI hype" objection from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bullets on this slide are not nice-to-have qualifications; they are the *substrate* an agent needs to operate.
- **Structured repositories** give the agent a knowable surface area. An agent let loose on a flat folder of loose scripts has no map; an agent inside a Sampler/PowerShell project layout knows where public functions, private helpers, and tests live by convention.
- **Git** is the supervision mechanism. Every action the agent takes becomes a diff — reviewable, revertible, attributable. Without Git, there is no equivalent of "undo last 30 minutes".
- **Pester tests** turn intent into something an agent can verify against. The agent's success criterion is no longer "does this look right?" but "does the test suite go green?", which is automatable.
- **Conventions** (Approved Verbs, parameter patterns, comment-based help) compress the prompt: the agent infers what new code should look like from what already exists, instead of being told explicitly every time.
The broader observation: the engineering hygiene PowerShell and DevOps teams adopted for human reasons (review, rollback, reproducibility) is the *same* hygiene that makes AI agents productive and safe. Teams without it tend to discover this the expensive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traditional flow has a human in every loop iteration: copy, paste, run, read error, decide what to do next. Each transition is a context switch costing seconds to minutes. On a 30-step task the wall-clock cost is dominated by these handoffs, not by either the human or the model thinking.
The second observation — less obvious — is that the human is also the *only memory* in this flow. The model forgets between turns; the editor doesn't know about the chat; the terminal doesn't know about the file. Everything that persists has to pass through the human's working memory, which is exactly where errors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Kant quote ("Dare to know!") is the motto of the Enlightenment, from his 1784 essay *Was ist Aufklarung?*. He was arguing against intellectual tutelage — the habit of letting others think for you. The parallel here is deliberate and slightly pointed: agentic tools can either amplify your judgement or replace it, and which one happens is a choice the user makes, not a property of the tool.
The table itself describes a skill rotation rather than a skill loss. Reviewing code well is *harder* than writing it — it requires holding the whole system in mind, not just the next line. Teams that thrive with agents are typically the ones whose seniors were already good reviewers; teams that struggle are usually those who conflated "writes code" with "understands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"Context engineering" is the field's successor to prompt engineering (Anthropic, 2025). The counter-intuitive point: a 1M-token window does not mean you should fill it — models lose recall as context grows (context rot). The Memory Bank we already teach is a structured-note-taking instance of context engineering, so this elevates existing content rather than replacing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recognition is mostly few-shot learning at inference time: the model sees three or four examples of how your project handles parameters and errors, and it generalises. No fine-tuning, no training run — just the surrounding files acting as in-context demonstrations.
The practical implication is asymmetric: *good* patterns propagate, but so do *bad* ones. If half your codebase uses `Write-Host` for errors and the other half uses `Write-Error`, the agent will pick whichever it saw most recently. Consistency in the existing code is therefore not just hygiene — it is the signal the agent uses to decide what to write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README has two audiences now — humans onboarding to the project and agents starting a task. The information they need overlaps almost completely: what does this thing do, what does it *not* do, what are the entry points, what are the conventions. A README that fails the human onboarding test will fail the agent in exactly the same ways.
The "AI context" framing also explains why README rot is more expensive in an agentic workflow than it used to be. An outdated README does not just confuse newcomers — it actively steers the agent toward producing code that matches the stale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Traceability is deliberately retained as the first evidence plane: it is
portable, deterministic, and sufficient for reviewing the final artefact. It is
not a transcript of the Agent's execution. A failed Tool call, a blocked hook,
or a discarded subagent result may leave no Git change at all.
VS Code's OpenTelemetry guide (updated 2026-07-15) emits a connected trace tree
for Agent orchestration, Model calls, Tool calls, hooks, and subagents, plus
cost, error, and outcome metrics. GitHub Copilot session streaming entered
public preview on 2026-07-02 for prompts, responses, and Tool calls. Keep those
execution records separate from adoption dashboards, which measure usage rather
than explain one action.
Content capture is off by default. Turning it on can collect sensitive code,
prompts, file contents, Tool arguments, and Tool results, so retention and
access control become part of the design.
Sources:
- https://code.visualstudio.com/docs/agents/guides/monitoring-agents
- https://github.blog/changelog/2026-07-02-copilot-agent-session-streaming-is-now-in-public-preview/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not new — they are decades-old software-engineering hygiene. What is new is that the cost of violating them is now immediate and visible: the agent produces inconsistent output the same hour you skip the README update, not weeks later when the next developer onboards.
The single-highest-leverage item on the DO list is "meaningful structure." A repository with a clear conventional layout (src/Public, src/Private, tests/, docs/) gives the agent a place to put new things without asking. A flat repository with everything in the root forces a choice the agent will make somewhat arbitrarily.
Vague rules degrade silently. "Make sure to test stuff" survives review because no one can claim it is wrong, but the agent has no way to operationalise it — there is no observable difference between honouring the rule and ignoring it. Specific rules ("create a Pester test file for every new public function, covering at least one success path and one failure path") are testable and therefore enforceable.
The rule-writing skill is closer to writing technical documentation than to writing prompts. Each rule should answer: what should happen, when, and how would I know it happened? Rules that fail that test are usually wishes, not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this file matters. Markdown headings act as soft section tags the model uses for retrieval; bullet lists read as imperative rules; prose reads as background commentary. A well-structured instruction file is closer to a configuration document than to a memo.
Length is a real constraint — the file is prepended to every request, so a 4,000-token rulebook is a 4,000-token tax on every interaction. The discipline is to keep the always-on rules short and push specialised guidance into pattern-matched `*.instructions.md` files or skills that load on demand. "What goes in copilot-instructions.md" is the same question as "what does every task need to know?"
Speaker notes (for newcomers):
- This is the most practical slide in the module: copy-paste this into your own `copilot-instructions.md` today and the agent will start testing its own output.
- The magic line is "do not report completion until all tests pass" — it forces the agent to iterate instead of giving up.
- **Invoke-Pester** is the command that runs all the tests in your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 half of the comparison shows the agent's default behaviour when no project rules are in scope. The output is syntactically correct, idiomatically generic, and visibly out of place in a team codebase: no `[CmdletBinding()]`, no parameter validation, no comment-based help, no error handling. The model is doing exactly what it was asked — produce a function that validates a config — at the lowest defensible level of effort, because nothing in the prompt told it the team cared about anything more.
This baseline matters as a calibration point: it is the level the agent reaches when the instruction file is missing, empty, or ignored. Teams that adopt agentic tooling and then complain about output quality are usually looking at this level of output and assuming the model is the bottleneck. The next slide shows the same prompt against the same model with a twenty-line rulebook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half is the same prompt against the same model — the only thing that changed is the presence of `copilot-instructions.md` with rules about cmdlet binding, parameter validation, comment-based help, error handling, and tests. The output now matches what a senior on the team would have written, because the instruction file transferred the team's standards into the agent's defaults.
The delta is intentionally dramatic, but it is also genuinely representative. The instruction file is not a clever prompt-engineering trick; it is a configuration document that arrives with every request. The same effect compounds across every task for every developer on the team, indefinitely. This is the single highest-ROI configuration change most teams make to their AI tooling, and it is also the one most likely to be skipped because writing a rulebook does not look like "real" engineering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"things you find yourself repeating" heuristic is the right discovery mechanism for instruction-file content. If a developer corrects the agent three times in a week about how to format errors, that correction belongs in the instruction file, not in the next chat.
What does *not* belong in the instruction file: anything project-specific to a single task (use a prompt file), anything domain-specific that only matters for certain code (use a pattern-matched `.instructions.md`), or anything that is really just a personal preference (use user-level settings). Treating the always-on file as a dumping ground is the most common failure mode — it bloats fast and starts contradicting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hierarchy mirrors how human teams already work: personal habits, team norms, company policy — each level overrides the more general one only where it has something specific to say. The agent applies all layers simultaneously, with conflicts resolved by specificity (the more local rule wins).
The most useful layer for most teams is the middle one: repository instructions in Git. Personal-level settings drift between developers; org-level policies are usually too coarse to be operational. The Git-committed instruction file is the only layer where "the team agreed to this" and "the agent enforces this" become the same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**Spec** = a short written description of WHAT you want and WHY — written *before* any code.
- Think of it like a one-page work order: "Build me X, it must handle Y, must NOT do Z."
- Why bother? Because if the agent goes off-track, the spec is the cheap thing to fix (1 page) vs. re-reading 600 lines of generated code.
- **Constitution** = the project's permanent ground rules (e.g. "all public functions get tests"). One per project, rarely changes.
- Spec = per task. Constitution = forever. Instructions (slide 4.3) = forever, like the constitution.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Companion to the previous slide: writing a spec is half the discipline. **Reading the diff** is the other half.
- "Compile-from-spec" = asking the agent "build me X from the spec" and merging whatever it produces without looking. Feels productive. Compounds into garbage.
- The two daily habits to internalise: (1) read every AI diff, (2) when the design no longer matches the spec, fix the *design*, not the prompt.
- Software entropy is exponential. Three unread cycles isn't 3× worse — it's unrecoverable without a refactor.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 agent is a named bundle of three things: a system prompt (the persona), a tool allowlist (what the agent can actually do), and optional handoffs (which other agents it can call). The same underlying model powers all of them; the difference is configuration, not capability.
The tool allowlist matters more than the persona. A "refactor agent" without `runTests` cannot actually verify its refactors; a "security reviewer" with `editFiles` is no longer a reviewer. Choosing the minimal tool set for each agent is what turns the agent definition from cosplay into an actual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is the slide that closes the honesty gap in Module 3. Everything before it — copilot-instructions.md, .instructions.md, .agent.md, SKILL.md — is text the model reads and then decides whether to follow. Most of the time it follows. "Most of the time" is not a control. Hooks are the missing deterministic layer: VS Code, the Copilot CLI and Claude Code all read a user-level hooks folder (~/.copilot/hooks), execute the declared command, and act on the exit code. Exit 0 proceeds, exit 2 blocks the tool call and shows the reason to the model, and anything else is a non-blocking warning — so a broken hook degrades to noise rather than bricking every tool call. Two worked examples from CopilotAtelier: Block-RemoteMutation.ps1 on PreToolUse refuses git push, --no-verify, git reset --hard, force-clean, and mutating gh commands, with an environment-variable escape hatch for a push the user actually authorised this turn; Add-SessionContext.ps1 on SessionStart probes the filesystem for .memory-bank/index.md and states authoritatively whether it exists — which kills the recurring failure where the agent concludes "no Memory Bank" because the workspace summary omits dotfile folders. Two caveats to say out loud. First, this is pattern matching over a command string, not a sandbox; an obfuscated or indirectly invoked push gets through, so it is defense in depth that removes the *accidental* path, and the written rule still has to exist. Second, and this is the important one, it connects straight to the containment module: an agent that can edit the hook scripts can rewrite its own guardrails, so the hook folder has to sit outside the agent's auto-approved edit scope. Sources: https://code.visualstudio.com/docs/agent-customization/hooks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shift since early 2026 — Skills, AGENTS.md, and MCP moved under the Agentic AI Foundation, while A2A is maintained as a separate Linux Foundation project. A2A v1.0.1 shipped in May 2026, so this is a protocol-map clarification rather than a July trend: MCP is Agent-to-Tool; A2A is independent Agent-to-Agent; an in-process subagent still uses the host's native delegation primitive. Takeaway: instruction files, Skills, and protocol investments are portable, but exact support still varies by product. Sources: https://aaif.io/ and https://a2a-protocol.org/latest/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"Atelier" is the deliberate metaphor here — the workshop of a craftsperson, kept stocked with their own instruments, organised the way they think, and carried with them between projects. Applied to agentic tooling, the atelier is the personal layer of customisation that travels with the developer rather than living inside any one repository: instruction files, custom agents, skills, prompt files, all version-controlled and synced across machines (the cross-machine sync pattern from slide 10.5a).
The "as code" framing is the load-bearing claim. The atelier is not a collection of saved chat snippets or browser bookmarks; it is a Git-tracked directory tree with diffable history, peer review, and rollback. The same engineering discipline the curriculum applies to project code applies to the developer's personal AI configuration. Mature practitioners maintain their atelier with the same care they give to their dotfiles or their PowerShell profile — and for the same reason: small daily investments compound into a permanent productivity advantage.
The portability claim is now literal rather than aspirational: ShellPilot (github.com/raandree/ShellPilot) loads the same instruction files and Agent Skills from the PowerShell terminal, and DeskPilot (github.com/raandree/DeskPilot), built on the ShellPilot engine, does the same from a desktop chat app. "Use it everywhere" comes to mean the editor, the shell, and a GUI — the Atelier is the durable asset; the surface is interchangeable.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Planck quote frames the philosophical claim under this entire module: knowledge requires evidence, and in software the evidence is a passing test. "It compiles" and "the chat output looks reasonable" are not evidence — they are absence of one specific class of failure.
The "executable specification" framing has been around since Beck's *Test-Driven Development* (2002), but it acquires new force in the agent era. For a human team, a test suite is a check on the code. For an agent, the test suite is the *only signal that closes the verification loop*. Without tests, the agent has no way to know when to stop iterating — it falls back to the model's own assessment of its work, which is exactly the unreliable judgement the tests were supposed to 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Pester structure shown (`Describe` → `Context` → `It`) is BDD-style nesting borrowed from Ruby's RSpec by way of JavaScript's Jasmine and Mocha. The structure does not affect test execution — it affects readability and the granularity of the failure report. A flat list of `It` blocks passes the same tests; a well-grouped suite tells you *which class of behaviour* broke.
The six categories on the table are not arbitrary — they correspond to the six places defects empirically cluster in production code (success-path bugs are rare; null/empty/edge are common; error-path defects are the most expensive because they only surface in incidents). An agent told to write "comprehensive tests" will usually produce a balanced sample across these six; a vague "write some tests" instruction produces three success-path tests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Iteration is bounded, not infinite. Every agent host imposes some cap — maximum tool calls per turn, maximum turns per task, maximum tokens consumed — partly for cost reasons, partly because runaway loops are a real failure mode (the agent fixing a symptom that re-creates itself in another file).
The interesting variable to watch in practice is *iteration depth*: how many cycles does the agent need before VERIFY passes? On well-structured repositories with good tests, two or three. On under-tested codebases the agent may iterate ten times and still ship something that compiles but is wrong. Iteration depth is therefore a useful proxy for "how AI-ready is this repo?" — high counts mean the verification signal is too weak.
The self-verification loop on this slide is the structural reason agentic coding is different from autocomplete. Autocomplete stops at step 1; the chat-era model stops at step 2; only an agent with tool access can run step 3 and iterate on the result.
The loop is genuinely automatic but bounded — every host enforces some maximum on iteration count, typically five to ten cycles before the agent stops and reports failure to the human. Hitting that cap is itself a signal: usually it means the test is testing the wrong thing, or the requirement is under-specified, or the agent has been chasing a symptom across files. The remedy is rarely "give it more cycles."
The Pragmatic Programmer headlights metaphor is the right framing for test-loop speed. Slow tests do not just slow the human — they slow the agent's iteration cycle, which means the agent runs further between checks and accumulates more uncorrected drift before a failure surfaces.
The quantitative version: a five-second test loop lets the agent iterate twelve times per minute. A five-minute test loop lets it iterate twice per hour. The same model on the same task produces dramatically different code quality at those two rates, because the corrective signal arrives at fundamentally different cadences. Investing in test speed is therefore not a developer-experience nicety — it is direct investment in agent output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single most practical slide in Module 4 — copy-paste this block into your own `copilot-instructions.md` today.
- The magic line is "do not report completion until all tests pass." That one rule forces the agent to iterate rather than give up.
- Want it in a non-PowerShell project? Replace `Invoke-Pester` with `pytest`, `npm test`, `dotnet test`, etc. The pattern is language-agnostic.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extends self-verification from deterministic Pester tests (which prove the code) to evals (which measure the non-deterministic agent or prompt). Vocabulary: graders (code / LLM-as-judge / human), capability vs regression evals, pass@k vs pass^k, and eval-driven development. Practitioners call evals "the single hardest problem in AI engineering." For this audience: you don't need a framework to start — 20 to 50 real tasks from your own failures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Four ways to run an agent, from "watching every keystroke" to "fire and forget on GitHub."
- Start with **Agent Mode** in VS Code — you see everything. Comfortable, low risk.
- Promote tasks to **Cloud Agent** only after you trust your instructions — there's no human in the loop while it runs.
- **Background agent** = like Agent Mode but in a separate copy of the repo so it doesn't block your editor. Good for long refactors.
The "if you can run it in a terminal" framing is the most important reframing in this module for a DevOps audience. Most discussion of agentic AI focuses on writing application code, which under-sells what the technology actually does. The model does not care whether the tool it invokes returns source code, JSON, RTF, a stack trace, or `repadmin /showrepl` output — it parses text and reasons about it.
The Active Directory troubleshooting example is genuinely representative of operations work: most of the job is reading diagnostic output (event logs, `gpresult`, `nltest`, `dcdiag`), correlating across hosts, and forming hypotheses. An agent with shell access and a domain glossary can carry the same loop, with the human supervising the conclusions rather than transcribing the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Prompt injection is the defining agent-security concept and it's missing from most training. The lethal trifecta (Simon Willison): private data + untrusted content + external communication = exfiltration. This audience is exactly at risk because they wire agents to email, web, and databases via MCP. Emphasize: vendor guardrails are not a fix; the structural fix is to not combine all three capabilities in one agent. This is OWASP LLM01, the top LLM risk, and it is not jailbreaking.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immediate / this-week / ongoing structure is calibrated to convert intent into action. Most adoption failures happen in the gap between leaving a workshop motivated and opening the editor the next morning unsure what to do first. The immediate items are deliberately small enough to complete in twenty minutes; the week-one items expand the surface; the ongoing items are the durable practice.
The order also matters. Enabling Agent Mode before writing an instruction file leaves the operator unsupervised; writing the instruction file first ensures the first agentic task already operates under the team's rules. The "share with a colleague" item in week one is the social-mechanism step — it moves the practice from individual to team without requiring a top-down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11 appendix
### Timing: 15-20 minutes (2h cut) / 25 minutes (4h cut)
Module 11 widens the agentic operating model beyond code. The pedagogical move is to defuse the assumption that this curriculum is a developers-only practice; the structural claim is that runbooks, legal correspondence, research synthesis, and operational reports all submit to the same loop when the verification step can be made concrete.
When presenting to a mixed audience, this is the module that earns the non-developer attendees' attention. The three-project table (Kerberos rollout, multi-year legal dispute, German tenancy case) is the empirical anchor; the data-governance slide is the gatekeeper that keeps the talk credible in regulated contexts. The transition to Module 12 narrows back to one concrete extension — the lab as the agent's sandbox for infrastructure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this slide is one of the strongest claims in the curriculum. Up to this point the audience has been encouraged to picture agents working on source code; this slide widens the frame to claim the same operating model applies to runbooks, legal arguments, research synthesis, and operational reports. The claim is empirical — the next slide names three projects where it has held — not aspirational.
The structural property that makes the loop transfer is verifiability. Code can be compiled and tested; a runbook can be executed in a lab; a legal argument can be cross-checked against a corpus; a research synthesis can be audited against its sources. The agentic loop closes wherever there is a way to check the work. The artefact looks different in each domain, but the supervision pattern — Observe, Plan, Act, Verify, Iterate —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projects on this slide are deliberately drawn from non-software domains — systems engineering, multi-year legal dispute, German tenancy law — to defuse the assumption that the operating model is a software-only practice. The Kerberos RC4 rollout (Project A) produced numbered PowerShell runbooks; the legal dispute (Project B) produced argumentation structures and formal correspondence; the tenancy case (Project C) produced Schriftsatz drafts citing the BGB and BetrKV.
The six building blocks listed at the bottom are the load-bearing finding. None of the three projects could have proceeded with a chat interface alone; each one needed a Git repository, Markdown as the working medium, PowerShell as the bridge to local systems, and a Memory Bank for context that survives across sessions. The operating model is what made the work *durable* — weeks of analysis that could be paused, resumed, audited, and reverted, rather than evaporating between chat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 Memory Bank / output / agent / Git diagram is the architectural summary of every project that uses this operating model. The shape is consistent across domains: a structured input corpus (emails, PDFs, logs, evidence), a stable context store (the Memory Bank), an output folder for the deliverables (runbooks, letters, reports), an agent with tools that connects them, and Git underneath everything as the audit and rollback layer.
The diagram's most underappreciated feature is the Memory Bank in the middle. Without it, every chat session begins with the user re-briefing the agent on the project's state; with it, the briefing is the file the agent reads first. The asymmetry compounds quickly — a long-running project (weeks or months) accumulates context that a short chat history cannot reproduce. The Memory Bank is the part of the operating model that turns "the agent helped me with one task" into "the agent participates in a multi-month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 log` example is real, drawn from a multi-month tenancy dispute. Each commit corresponds to a substantive decision — the version of the letter that incorporated review feedback, the version that restructured around the regulatory directive, the version that added the twenty-eight evidence references. Reading the log backwards reconstructs the thinking; reading it forwards explains the result.
The four properties below the log (reversible, blameable, branchable, citable) are the same properties software engineers value in Git for source code, applied to prose artefacts. "Version as of commit d4f8ea1" is a precise identifier for the exact text that left the office on a specific day; the equivalent in a Word-based workflow is "the version we sent on Tuesday, I think," with no way to recover the lost edits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**Memory Bank** = a small set of Markdown files that act as the project's long-term memory between AI chat sessions.
- Why needed? Because each new chat starts fresh — the AI doesn't remember yesterday. The Memory Bank is the briefing you hand it on day 1.
- Don't overthink it: start with `projectbrief.md` ("what is this project") and `activeContext.md` ("what are we working on right now"). Add the rest only when you feel the pain.
- The template in `content/materials/` is ready to copy into any new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data-governance slide is the gatekeeper for any non-software audience and increasingly for software audiences too. The matrix is intentionally aimed at the practical questions a compliance officer or legal team will ask: where does the prompt go, who trains on it, what stays out of context, which model handles the request, what is the local-only fallback.
The distinction between Copilot Individual, Business, and Enterprise tiers is the one most teams get wrong. Individual plans default to using prompts for training unless the user opts out; Business and Enterprise plans do not train on customer prompts at all and offer data-residency controls. For HR, legal, healthcare, and any regulated context, the tier choice is the difference between a defensible deployment and a compliance incident waiting to surface. The rule of thumb at the bottom is unsubtle on purpose — it gives non-technical reviewers a clear test they can apply without understanding the underlying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collapses Module 8 into four capabilities that change the shape of what an agent can do: external reach (MCP), reversibility (checkpoints), coordinated change (multi-file ops), and deployment flexibility (local / background / cloud). Each one expands a different dimension of the basic agentic loop; together they constitute the difference between an editor feature and an operations platform.
The progression to Module 9 is deliberate. Module 8 shows what agents *can* do; Module 9 turns to what they *should* do. The expanded capability surface makes the discrimination harder — a task that was obviously out of scope for autocomplete is no longer obviously out of scope for a cloud agent with database access and rollback. The decision framework moves from technical (can the tool handle this?) to organisational (do we want the tool handling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12 appendix
### Timing: 20-25 minutes (4h cut only)
Module 12 is the operations-track closer. The argument structure is: agents acting on production infrastructure are unsafe by default; a properly designed lab (reversible, reproducible, observable, isolated) makes the agentic loop safe to run; AutomatedLab on Hyper-V is the Hyper-V-native answer for Windows-stack work; Invoke-LabCommand closes the verification loop the way Invoke-Pester does for code.
The Kerberos RC4 example is deliberately chosen because it combines every difficulty mode at once — production-critical, poorly documented, incremental, irreversible-feeling. A lab that rebuilds in twenty minutes turns that fear into a routine test. The operational claim worth landing: the agent does not change production; the agent produces a reviewable artefact (script + runbook + event-log evidence) that lets a human change production with confidence. That is what 'agentic operations' actually means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examples in the bullet list are not hypothetical — each one has happened in field reports during 2025–26. The reboot of a domain controller at 14:07 on a Tuesday is paraphrased from a real Reddit thread. The mass-change of `msDS-SupportedEncryptionTypes` is the kind of thing the Kerberos RC4 deprecation timeline produced as agents misread Microsoft's guidance. The recursive OU delete is a periodic Microsoft 365 incident.
The dilemma framing matters because it cuts through the binary discourse common in operations contexts. "Just don't use AI agents on infrastructure" is one answer, and it leaves the productivity gains on the table; "trust the agent because the demos look great" is the opposite answer, and it produces the incidents above. The sandbox pattern is the middle path: give the agent full autonomy in a structurally safe place, then promote only the verified change to production through normal change-management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 reversibility, reproducibility, observability, isolation — are the minimum set for an environment that an agent can operate in safely and usefully. Take any one of them away and either the agent becomes unsafe (no isolation, no reversibility) or it stops being useful (no reproducibility means each iteration starts from a different baseline; no observability means the agent cannot close its verification loop).
The scoring table is a frank assessment, not a marketing claim. AutomatedLab scores well for Windows infrastructure work because every property maps to a native PowerShell cmdlet (`Restore-LabVMSnapshot`, `Install-Lab`, `Invoke-LabCommand`, Hyper-V isolation). Dev containers score lower on observability because Windows event logs and registry state are not first-class inside a Linux container. Cloud sandboxes score well *if* cost discipline holds; teams that forget the teardown script discover that an "isolated" agent can run up a four-figure cloud bill over a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is the most explicit mapping in the curriculum between the abstract agentic loop and a concrete infrastructure workflow. Each phase has a literal PowerShell cmdlet behind it — `Get-LabVM` for observe, `Checkpoint-LabVM` and `Invoke-LabCommand` for act, `Get-WinEvent` for verify, `Restore-LabVMSnapshot` for the iteration fallback. None of these were designed with AI agents in mind; they were designed for human operators, and they happen to give the agent the same affordances.
The verify step is the one most often misunderstood. "Did event 205 appear?" is a binary check the agent can run by reading the system event log; it succeeds or fails in a way the agent can act on. By contrast, "is the domain healthy?" is a check no agent can perform reliably because it is not operationalised. The discipline of designing verification steps as concrete log entries or registry values is what makes the loop closable; vague verification criteria collapse the loop back into the cheating-agent trap from Module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before/after comparison on this slide compresses what is often a multi-week procedural difference into a single table. The three-week CAB process for a mass attribute change is not paranoia — it is the rational response to a change that touches authentication for every account in the forest. The lab variant does not skip the rigour; it relocates it. The script is still reviewed, the change is still rehearsed, the verification is still required. What changes is that all of that happens in a place where mistakes cost minutes rather than incidents.
The closing line is the operational claim of the entire module. The lab is where risk is rehearsed *before* it touches production, not a place where risk is ignored. A team that uses agents in a lab to rehearse changes ends up with better change tickets — specific scripts, observed event sequences, documented side effects — not lower-quality ones. The CAB review on the production change is still required; it is now able to read a runbook that says "we did this in the lab, here is the event log proving it worked, here is the rollback snapshot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Step 5 ("first verification fails, agent diagnoses from event logs") is the moment everything in the training clicks. Wait for the audience reaction.
- The runbook stays in Markdown next to the scripts. One PR shows both the script and the doc change — they cannot drift apart.
- This is `Invoke-Pester` for infrastructure. Same loop. Different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One-line summary for sysadmins who joined late: *give the agent a lab, snapshot before every destructive action, verify with events, commit the runbook.*
- The four sandbox properties (reversible · reproducible · observable · isolated) are the checklist for any platform you let an agent loose on — not just AutomatedLab.
- This module closes the loop with Module 5 (self-verification): same pattern, infrastructure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Slide-75-image-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Slide-76-image-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76</Slides>
  <Notes>76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76</vt:i4>
      </vt:variant>
    </vt:vector>
  </HeadingPairs>
  <TitlesOfParts>
    <vt:vector size="7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2026-08-13T06:25:02Z</dcterms:created>
  <dcterms:modified xsi:type="dcterms:W3CDTF">2026-08-13T06:25:02Z</dcterms:modified>
</cp:coreProperties>
</file>